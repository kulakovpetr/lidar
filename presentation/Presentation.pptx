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18"/>
  </p:notesMasterIdLst>
  <p:sldIdLst>
    <p:sldId id="256" r:id="rId3"/>
    <p:sldId id="270" r:id="rId4"/>
    <p:sldId id="271" r:id="rId5"/>
    <p:sldId id="272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buNone/>
    </a:defPPr>
    <a:lvl1pPr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1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Открытие: представьте команду и назовите задачу. Прототип принимает PointCloud2, выделяет поверхности в заданном профиле и публикует дальность. Обязательно заменить название команды. Источник оформления: шаблон ЛЦТ2026, слайд 7. Источник задачи: ТЗ Департамента транспорта, стр.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950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F3B14-7AC8-406F-A299-37D374056E4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3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Расскажите о технических сложностях вместо выдуманной истории команды. В плотном кадре старый список содержал 172 млн рёбер. Не заявлять измеренный выигрыш этой операции как ускорение всего приложения. Источники: история отчётов связности, implementation_summary.md и текущая архитектура.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Развитие описывается как план, а не уже реализованная функция. Сначала нужны достоверная геометрия своего пути и размеченные сложные случаи. Источники: limitations.md, technical brief, шаблон слайд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Поясните последовательность сверху вниз. Нода не читает bag: его читает стандартный player. Процессы считают независимые кадры. Компактный результат публикуется на каждый завершённый кадр. Просмотр получает последнюю доступную картинку, не очередь всех кадров. Источник: 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смешивать частичную установку лидара и полную калибровку. Рабочие оси s=-Y, l=X, h=Z. Продолжение за 25 м обозначено assumed_continuation. Источник: configuration.md, configured_straight.yaml, уточнение организатора.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Поясните отличие точных повторов от соседства. Совпадающие XYZ считаются одним голосом; затем связность объединяет близкие точки. Допустимые поверхности и геометрическая неопределённость влияют на кандидатов. Размер тестового предмета не является гарантией обнаружения. Источники: algorithm.md с уточнениями по review_code, configured_straight.yaml.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Пример 98.693 м относится к первому дошедшему кадру короткого веб-прогона. Полный прогон этот первый кадр пропустил. На скриншоте показан более поздний кадр с дальностью 90.119 м. Не выдавать его за снимок 98.693 м. Источники: facts.md, experiments.md, screen_far.png.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 живое видео после этого слайда. Этот скриншот относится к отдельному просмотру, не ко всем 1510 кадрам полного прогона. Источник: figures/screen_near.png, figures/sources.md.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Задержка и производительность — разные показатели. 3.12 вычислено как 1509/483, включает старт и закрытие. 3.75 Гц в конце окна не используем как среднее. Плеер подавал медленнее записи. Источник: experiments.md, ros_journal_fixed.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Счётчики относятся к финальному исправленному журналу. Ошибки дублирования предыдущего append-прогона устранены. Новая машина и RViz остаются отдельными проверками. Источник: checks.md, release_manifest.json.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Завершение: покажите рабочий запуск. Уточните, что образ нужно передать эксперту; он ещё не опубликован, а сборочная цепочка имеет отсутствующий промежуточный слой. Источники: installation.md, limitations.md, release_manifest.json.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sz="1600" b="0"/>
              <a:t>Номер и название задачи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t>29.09.2026</a:t>
            </a:fld>
            <a:endParaRPr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t>29.09.2026</a:t>
            </a:fld>
            <a:endParaRPr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t>29.09.2026</a:t>
            </a:fld>
            <a:endParaRPr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t>29.09.2026</a:t>
            </a:fld>
            <a:endParaRPr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t>29.09.2026</a:t>
            </a:fld>
            <a:endParaRPr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AB2196-A440-4E25-B9FF-D0ADB01B1A15}" type="datetime1">
              <a:t>29.09.2026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fld id="{9D490EE5-ED7D-46E8-8345-A78A0CB0F4A4}" type="datetime1">
              <a:t>29.09.2026</a:t>
            </a:fld>
            <a:endParaRPr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33519601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31678403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756712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0141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215044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42402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791253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59312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5381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837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458846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292064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071545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767985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66406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460402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051337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473435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796189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159256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11170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387463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51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6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68F2D4-1BEF-4D92-AEAF-FB37FF79BC81}"/>
              </a:ext>
            </a:extLst>
          </p:cNvPr>
          <p:cNvSpPr>
            <a:spLocks noGrp="1"/>
          </p:cNvSpPr>
          <p:nvPr/>
        </p:nvSpPr>
        <p:spPr>
          <a:xfrm>
            <a:off x="457200" y="2612380"/>
            <a:ext cx="6408903" cy="124993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ru-RU" sz="4800" b="1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Лидарный</a:t>
            </a:r>
            <a:r>
              <a:rPr lang="ru-RU" sz="48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Дозор</a:t>
            </a:r>
            <a:endParaRPr sz="48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454245"/>
            <a:ext cx="2286000" cy="624893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991C874-3554-4C2A-A91A-6B4ED3303D41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57200" y="5164624"/>
            <a:ext cx="101471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Roboto"/>
              </a:rPr>
              <a:t>Система обнаружения посторонних объектов для беспилотных поездов в тоннеле метро по данным 3D-лидара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4" b="19314"/>
          <a:stretch>
            <a:fillRect/>
          </a:stretch>
        </p:blipFill>
        <p:spPr>
          <a:xfrm>
            <a:off x="459656" y="507375"/>
            <a:ext cx="5996707" cy="2760225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Поиск вторжения в габарит движения: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Без обучения на размеченных</a:t>
            </a:r>
            <a:r>
              <a:rPr kumimoji="0" lang="ru-RU" sz="14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объектах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Капитан: 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Кулакова </a:t>
            </a:r>
            <a:r>
              <a:rPr kumimoji="0" lang="ru-RU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Айгуль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</a:t>
            </a:r>
            <a:r>
              <a:rPr kumimoji="0" lang="ru-RU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Фанисовна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, инженер компьютерного зрения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Кол-во участников: </a:t>
            </a:r>
            <a:r>
              <a:rPr lang="ru-RU" dirty="0">
                <a:solidFill>
                  <a:srgbClr val="000000"/>
                </a:solidFill>
                <a:latin typeface="Montserrat"/>
              </a:rPr>
              <a:t>2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человека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Краткое описание: </a:t>
            </a: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второй раз участвуем </a:t>
            </a:r>
            <a:endParaRPr kumimoji="0" lang="ru-RU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место </a:t>
            </a:r>
            <a:r>
              <a:rPr kumimoji="0" lang="ru-RU" sz="1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работы:</a:t>
            </a:r>
            <a:r>
              <a:rPr kumimoji="0" lang="ru-RU" sz="1400" b="0" i="1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безработная, КСЭ</a:t>
            </a:r>
          </a:p>
          <a:p>
            <a:pPr marL="144688" marR="0" lvl="0" indent="-144688" algn="l" defTabSz="57875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Tx/>
              <a:buChar char="-"/>
              <a:tabLst/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Город и регион: Уфа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Команда </a:t>
            </a:r>
            <a:br>
              <a:rPr lang="ru-RU" sz="2400" dirty="0" smtClean="0">
                <a:solidFill>
                  <a:schemeClr val="accent5"/>
                </a:solidFill>
                <a:latin typeface="+mn-lt"/>
              </a:rPr>
            </a:br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«</a:t>
            </a:r>
            <a:r>
              <a:rPr lang="ru-RU" sz="2400" dirty="0" err="1" smtClean="0">
                <a:solidFill>
                  <a:schemeClr val="accent5"/>
                </a:solidFill>
                <a:latin typeface="+mn-lt"/>
              </a:rPr>
              <a:t>Лидарный</a:t>
            </a:r>
            <a:r>
              <a:rPr lang="ru-RU" sz="2400" dirty="0" smtClean="0">
                <a:solidFill>
                  <a:schemeClr val="accent5"/>
                </a:solidFill>
                <a:latin typeface="+mn-lt"/>
              </a:rPr>
              <a:t> Дозор»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Облако точек превращается в </a:t>
            </a:r>
            <a:r>
              <a:rPr kumimoji="0" lang="ru-RU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кандидатовю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Правило проверяет их в заданном объеме и возвращает расстояние от </a:t>
            </a:r>
            <a:r>
              <a:rPr kumimoji="0" lang="ru-RU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лидара</a:t>
            </a:r>
            <a:r>
              <a:rPr kumimoji="0" lang="ru-RU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.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727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780146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7973747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688" marR="0" lvl="0" indent="-144688" algn="l" defTabSz="578755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5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Инженер компьютерного зрения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44688" marR="0" lvl="0" indent="-144688" algn="l" defTabSz="5787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 smtClean="0">
                <a:solidFill>
                  <a:srgbClr val="000000"/>
                </a:solidFill>
                <a:latin typeface="Montserrat"/>
              </a:rPr>
              <a:t>@</a:t>
            </a:r>
            <a:r>
              <a:rPr lang="en-US" sz="1200" dirty="0" err="1" smtClean="0">
                <a:solidFill>
                  <a:srgbClr val="000000"/>
                </a:solidFill>
                <a:latin typeface="Montserrat"/>
              </a:rPr>
              <a:t>AigulKulakova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44688" marR="0" lvl="0" indent="-144688" algn="l" defTabSz="5787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89625209409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44688" marR="0" lvl="0" indent="-144688" algn="l" defTabSz="578755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5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dirty="0" smtClean="0">
                <a:solidFill>
                  <a:srgbClr val="000000"/>
                </a:solidFill>
                <a:latin typeface="Montserrat"/>
              </a:rPr>
              <a:t>Безработная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797374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lang="ru-RU" sz="1600" b="1" dirty="0" err="1" smtClean="0">
                <a:solidFill>
                  <a:srgbClr val="520977"/>
                </a:solidFill>
                <a:latin typeface="Montserrat"/>
              </a:rPr>
              <a:t>Айгуль</a:t>
            </a:r>
            <a:r>
              <a:rPr lang="ru-RU" sz="1600" b="1" dirty="0" smtClean="0">
                <a:solidFill>
                  <a:srgbClr val="520977"/>
                </a:solidFill>
                <a:latin typeface="Montserrat"/>
              </a:rPr>
              <a:t> Кулакова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6373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" name="Рисунок 9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9" r="8609"/>
          <a:stretch>
            <a:fillRect/>
          </a:stretch>
        </p:blipFill>
        <p:spPr>
          <a:xfrm>
            <a:off x="2810368" y="1747838"/>
            <a:ext cx="1722437" cy="1560512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Команда «</a:t>
            </a:r>
            <a:r>
              <a:rPr lang="ru-RU" dirty="0" err="1" smtClean="0">
                <a:latin typeface="+mn-lt"/>
              </a:rPr>
              <a:t>Лидарный</a:t>
            </a:r>
            <a:r>
              <a:rPr lang="ru-RU" dirty="0" smtClean="0">
                <a:latin typeface="+mn-lt"/>
              </a:rPr>
              <a:t> Дозор»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09615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Системный аналитик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@</a:t>
            </a:r>
            <a:r>
              <a:rPr lang="en-US" sz="1200" dirty="0" err="1" smtClean="0">
                <a:solidFill>
                  <a:schemeClr val="tx1"/>
                </a:solidFill>
              </a:rPr>
              <a:t>KulakovPA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89625209490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chemeClr val="tx1"/>
                </a:solidFill>
              </a:rPr>
              <a:t>КСЭ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8096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Петр Кулаков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AutoShape 4" descr="Сформированное изображение: Женщина в современном технолабораторном офис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" name="AutoShape 6" descr="Сформированное изображение: Женщина в современном технолабораторном офисе"/>
          <p:cNvSpPr>
            <a:spLocks noChangeAspect="1" noChangeArrowheads="1"/>
          </p:cNvSpPr>
          <p:nvPr/>
        </p:nvSpPr>
        <p:spPr bwMode="auto">
          <a:xfrm>
            <a:off x="8190734" y="215240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065" y="2024306"/>
            <a:ext cx="2015507" cy="11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8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520977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Команда «</a:t>
            </a:r>
            <a:r>
              <a:rPr lang="ru-RU" dirty="0" err="1" smtClean="0">
                <a:latin typeface="+mn-lt"/>
              </a:rPr>
              <a:t>Лидарный</a:t>
            </a:r>
            <a:r>
              <a:rPr lang="ru-RU" dirty="0" smtClean="0">
                <a:latin typeface="+mn-lt"/>
              </a:rPr>
              <a:t> Дозор»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6" y="1602274"/>
            <a:ext cx="9472241" cy="88502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— муж и жена, вместе участвовали в прошлом </a:t>
            </a:r>
            <a:r>
              <a:rPr lang="ru-RU" dirty="0" err="1">
                <a:solidFill>
                  <a:schemeClr val="tx1"/>
                </a:solidFill>
              </a:rPr>
              <a:t>хакатоне</a:t>
            </a:r>
            <a:r>
              <a:rPr lang="ru-RU" dirty="0">
                <a:solidFill>
                  <a:schemeClr val="tx1"/>
                </a:solidFill>
              </a:rPr>
              <a:t> по анализу длительности полёта </a:t>
            </a:r>
            <a:r>
              <a:rPr lang="ru-RU" dirty="0" err="1">
                <a:solidFill>
                  <a:schemeClr val="tx1"/>
                </a:solidFill>
              </a:rPr>
              <a:t>беспилотников</a:t>
            </a:r>
            <a:r>
              <a:rPr lang="ru-RU" dirty="0">
                <a:solidFill>
                  <a:schemeClr val="tx1"/>
                </a:solidFill>
              </a:rPr>
              <a:t>, нам понравился опыт работы над актуальной инженерной задачей, поэтому решили снова объединиться и попробовать свои силы в новой области — 3D </a:t>
            </a:r>
            <a:r>
              <a:rPr lang="ru-RU" dirty="0" err="1">
                <a:solidFill>
                  <a:schemeClr val="tx1"/>
                </a:solidFill>
              </a:rPr>
              <a:t>Computer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Vision</a:t>
            </a:r>
            <a:r>
              <a:rPr lang="ru-RU" dirty="0">
                <a:solidFill>
                  <a:schemeClr val="tx1"/>
                </a:solidFill>
              </a:rPr>
              <a:t> и </a:t>
            </a:r>
            <a:r>
              <a:rPr lang="ru-RU" dirty="0" err="1">
                <a:solidFill>
                  <a:schemeClr val="tx1"/>
                </a:solidFill>
              </a:rPr>
              <a:t>LiDAR</a:t>
            </a:r>
            <a:r>
              <a:rPr lang="ru-RU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4"/>
            <a:ext cx="11439019" cy="127837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Clr>
                <a:srgbClr val="FF0053"/>
              </a:buClr>
              <a:buNone/>
            </a:pPr>
            <a:r>
              <a:rPr lang="ru-RU" dirty="0">
                <a:solidFill>
                  <a:srgbClr val="000000"/>
                </a:solidFill>
              </a:rPr>
              <a:t>Самым сложным было то, что мы работали над задачами независимо друг от друга: каждый занимался своей частью, а в конце обсуждали результаты и идеи. Такой формат позволил каждому сосредоточиться на своей работе и при этом объединить результаты команды.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1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С какими основными сложностями или вызовами </a:t>
            </a:r>
            <a:b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07849" y="3577385"/>
            <a:ext cx="7853648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Clr>
                <a:srgbClr val="FF0053"/>
              </a:buClr>
              <a:buNone/>
            </a:pPr>
            <a:r>
              <a:rPr lang="ru-RU" dirty="0" smtClean="0">
                <a:solidFill>
                  <a:srgbClr val="000000"/>
                </a:solidFill>
              </a:rPr>
              <a:t>Нас </a:t>
            </a:r>
            <a:r>
              <a:rPr lang="ru-RU" dirty="0">
                <a:solidFill>
                  <a:srgbClr val="000000"/>
                </a:solidFill>
              </a:rPr>
              <a:t>заинтересовала возможность впервые поработать с </a:t>
            </a:r>
            <a:r>
              <a:rPr lang="ru-RU" dirty="0" smtClean="0">
                <a:solidFill>
                  <a:srgbClr val="000000"/>
                </a:solidFill>
              </a:rPr>
              <a:t>данными 3D </a:t>
            </a:r>
            <a:r>
              <a:rPr lang="ru-RU" dirty="0" err="1">
                <a:solidFill>
                  <a:srgbClr val="000000"/>
                </a:solidFill>
              </a:rPr>
              <a:t>LiDAR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Почему вы выбрали именно эту задачу </a:t>
            </a:r>
            <a:b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</a:b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78755" rtl="0" eaLnBrk="1" fontAlgn="auto" latinLnBrk="0" hangingPunct="1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rgbClr val="FF005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520977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2488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FFD6E3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CC5B9-D646-4B76-891F-6FF4E74E9CB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pPr marL="0" marR="0" lvl="0" indent="0" algn="ctr" defTabSz="9142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 smtClean="0">
                <a:solidFill>
                  <a:schemeClr val="tx1"/>
                </a:solidFill>
              </a:rPr>
              <a:t>Поиск вторжения в габарит движения. Облако точек превращается в кандидатов. Правило проверяет их в заданном объеме и возвращает расстояние от </a:t>
            </a:r>
            <a:r>
              <a:rPr lang="ru-RU" sz="1400" dirty="0" err="1" smtClean="0">
                <a:solidFill>
                  <a:schemeClr val="tx1"/>
                </a:solidFill>
              </a:rPr>
              <a:t>лидара</a:t>
            </a:r>
            <a:r>
              <a:rPr lang="ru-RU" sz="1400" dirty="0" smtClean="0">
                <a:solidFill>
                  <a:schemeClr val="tx1"/>
                </a:solidFill>
              </a:rPr>
              <a:t>. Без обучения на размеченных объектах.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Решение можно развивать как </a:t>
            </a:r>
            <a:r>
              <a:rPr lang="ru-RU" sz="1400" b="1" dirty="0">
                <a:solidFill>
                  <a:schemeClr val="tx1"/>
                </a:solidFill>
              </a:rPr>
              <a:t>систему автоматического контроля габарита движения для беспилотного и обычного рельсового транспорта</a:t>
            </a:r>
            <a:r>
              <a:rPr lang="ru-RU" sz="1400" dirty="0">
                <a:solidFill>
                  <a:schemeClr val="tx1"/>
                </a:solidFill>
              </a:rPr>
              <a:t>. Оно не требует обучения на размеченных посторонних объектах, поэтому может быть адаптировано под разные тоннели и типы </a:t>
            </a:r>
            <a:r>
              <a:rPr lang="ru-RU" sz="1400" dirty="0" err="1">
                <a:solidFill>
                  <a:schemeClr val="tx1"/>
                </a:solidFill>
              </a:rPr>
              <a:t>лидаров</a:t>
            </a:r>
            <a:r>
              <a:rPr lang="ru-RU" sz="1400" dirty="0">
                <a:solidFill>
                  <a:schemeClr val="tx1"/>
                </a:solidFill>
              </a:rPr>
              <a:t> без большого объёма разметки.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 дальнейшем систему можно интегрировать с бортовым компьютером поезда и системой управления движением, добавить </a:t>
            </a:r>
            <a:r>
              <a:rPr lang="ru-RU" sz="1400" b="1" dirty="0">
                <a:solidFill>
                  <a:schemeClr val="tx1"/>
                </a:solidFill>
              </a:rPr>
              <a:t>временной анализ и трекинг объектов, оценку степени опасности и автоматическое формирование предупреждения машинисту или диспетчеру</a:t>
            </a:r>
            <a:r>
              <a:rPr lang="ru-RU" sz="1400" dirty="0">
                <a:solidFill>
                  <a:schemeClr val="tx1"/>
                </a:solidFill>
              </a:rPr>
              <a:t>. Также подход может применяться для мониторинга тоннелей, диагностики инфраструктуры и контроля появления объектов в запрещённых зонах.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16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CCCAF79-B444-46E8-A5E0-6D193FC77C3E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Инженерные трудности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91753C-0FF1-45E2-AAB3-472BFB25D589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40481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Рельсы не всегда видны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65391A-7E94-4C99-975F-43AB0C1237B4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Сохранили геометрические гипотезы и явный режим профиля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16D2995-0B9E-41EF-BC1B-56048F27CC0F}"/>
              </a:ext>
            </a:extLst>
          </p:cNvPr>
          <p:cNvSpPr>
            <a:spLocks noGrp="1"/>
          </p:cNvSpPr>
          <p:nvPr/>
        </p:nvSpPr>
        <p:spPr>
          <a:xfrm>
            <a:off x="495300" y="3000375"/>
            <a:ext cx="40481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Плотный граф связности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7443F2-F7EF-4A7B-82F6-13A2E91350D9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Убрали обязательное хранение всех рёбер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A1DDFF-293D-4536-A4C1-F56B6EFBD6E8}"/>
              </a:ext>
            </a:extLst>
          </p:cNvPr>
          <p:cNvSpPr>
            <a:spLocks noGrp="1"/>
          </p:cNvSpPr>
          <p:nvPr/>
        </p:nvSpPr>
        <p:spPr>
          <a:xfrm>
            <a:off x="495300" y="4000500"/>
            <a:ext cx="40481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Показ задерживал ответ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F506A8-FE25-4901-9DBA-89D5EA6EFC12}"/>
              </a:ext>
            </a:extLst>
          </p:cNvPr>
          <p:cNvSpPr>
            <a:spLocks noGrp="1"/>
          </p:cNvSpPr>
          <p:nvPr/>
        </p:nvSpPr>
        <p:spPr>
          <a:xfrm>
            <a:off x="4857750" y="4000500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Выделили визуализацию и журнал из расчётного тракта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48F1C01-7662-4630-A752-773E6C61BD95}"/>
              </a:ext>
            </a:extLst>
          </p:cNvPr>
          <p:cNvSpPr>
            <a:spLocks noGrp="1"/>
          </p:cNvSpPr>
          <p:nvPr/>
        </p:nvSpPr>
        <p:spPr>
          <a:xfrm>
            <a:off x="495300" y="5000625"/>
            <a:ext cx="404812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Неоднозначная инфраструктура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21DEF47-DC53-4AD3-83DC-01EF495F2FC8}"/>
              </a:ext>
            </a:extLst>
          </p:cNvPr>
          <p:cNvSpPr>
            <a:spLocks noGrp="1"/>
          </p:cNvSpPr>
          <p:nvPr/>
        </p:nvSpPr>
        <p:spPr>
          <a:xfrm>
            <a:off x="4857750" y="5000625"/>
            <a:ext cx="666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Оставили условный статус и явные ограничения на кривых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7CDF19-19FB-4221-9951-525036FEB6FB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52ABA89-F36C-49B8-9C16-8EF15384A859}"/>
              </a:ext>
            </a:extLst>
          </p:cNvPr>
          <p:cNvCxnSpPr/>
          <p:nvPr/>
        </p:nvCxnSpPr>
        <p:spPr>
          <a:xfrm>
            <a:off x="495300" y="1673291"/>
            <a:ext cx="10561173" cy="0"/>
          </a:xfrm>
          <a:prstGeom prst="line">
            <a:avLst/>
          </a:prstGeom>
          <a:ln w="25400">
            <a:solidFill>
              <a:schemeClr val="accent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2BEC84-3BF2-430A-B3E5-28DC7719D014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Развитие решения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A37D5ED-D4C8-42D2-9910-C33CBA1DF0E7}"/>
              </a:ext>
            </a:extLst>
          </p:cNvPr>
          <p:cNvSpPr>
            <a:spLocks noGrp="1"/>
          </p:cNvSpPr>
          <p:nvPr/>
        </p:nvSpPr>
        <p:spPr>
          <a:xfrm>
            <a:off x="495300" y="195262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B34142-415F-415C-9C84-9C8E333E15E1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5095875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Однокадровая геометрия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Прямой профиль по конфигурации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Два CPU-процесса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ROS, веб-просмотр, журнал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73E1E73-6473-424E-857D-8F803BDE7CCC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905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Следующие шаги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DF47E2D-7377-4AF0-B0D6-DD1306D5E643}"/>
              </a:ext>
            </a:extLst>
          </p:cNvPr>
          <p:cNvSpPr>
            <a:spLocks noGrp="1"/>
          </p:cNvSpPr>
          <p:nvPr/>
        </p:nvSpPr>
        <p:spPr>
          <a:xfrm>
            <a:off x="6667500" y="2762250"/>
            <a:ext cx="5000625" cy="2476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Подтверждённая траектория на кривых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Разметка малых объектов и проводов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Измерение качества и ложных тревог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на стенде организатора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2418CB-A86B-40E8-98BE-27617C6F0AF1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GPU и нейросеть в текущем вычислительном тракте не используются.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D06391-066A-47DC-A97D-68F3B7F8AAA5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AD8E32-4E6E-4B1E-860C-319D44F522BE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Архитектура ROS-приложения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847D027-0900-47BA-8308-58BA093C98E2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581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Стандартный player / лидар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8E6199-A1CE-4D05-A9DF-E57764989CD4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PointCloud2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67C331-0D1B-4141-A68A-55C469B1EDCC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6286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Нода и очередь последнего кадра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8AB0B62-8D8B-4E2D-9209-6D0EC5B3F381}"/>
              </a:ext>
            </a:extLst>
          </p:cNvPr>
          <p:cNvSpPr>
            <a:spLocks noGrp="1"/>
          </p:cNvSpPr>
          <p:nvPr/>
        </p:nvSpPr>
        <p:spPr>
          <a:xfrm>
            <a:off x="495300" y="3762375"/>
            <a:ext cx="6096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Два постоянных процесса CPU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C92851-F677-476A-B866-1929AD1FCC95}"/>
              </a:ext>
            </a:extLst>
          </p:cNvPr>
          <p:cNvSpPr>
            <a:spLocks noGrp="1"/>
          </p:cNvSpPr>
          <p:nvPr/>
        </p:nvSpPr>
        <p:spPr>
          <a:xfrm>
            <a:off x="495300" y="49053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Каждый результат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ACE9622-3FFD-4BFC-93C3-4FDE1C0057B9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/detection + frames.jsonl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E645FE-F87C-4B23-A774-342941AB0666}"/>
              </a:ext>
            </a:extLst>
          </p:cNvPr>
          <p:cNvSpPr>
            <a:spLocks noGrp="1"/>
          </p:cNvSpPr>
          <p:nvPr/>
        </p:nvSpPr>
        <p:spPr>
          <a:xfrm>
            <a:off x="7239000" y="4905375"/>
            <a:ext cx="4191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Последняя картинка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AC49502-3BF3-4170-8497-E91D260C4F7B}"/>
              </a:ext>
            </a:extLst>
          </p:cNvPr>
          <p:cNvSpPr>
            <a:spLocks noGrp="1"/>
          </p:cNvSpPr>
          <p:nvPr/>
        </p:nvSpPr>
        <p:spPr>
          <a:xfrm>
            <a:off x="7239000" y="5381625"/>
            <a:ext cx="4191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Веб / RViz</a:t>
            </a:r>
          </a:p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Предел 2–10 Гц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E3DC5C5-F129-4183-890F-C1F0DE1FF73D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Визуализация обновляется независимо. Пропуск кадра не означает свободный путь.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4AC3FB-E968-4533-8004-FBDA87C29D3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A92061C-8128-49B8-9761-69EF2B3A5755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Профиль и допущения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7AE69A-CFE3-4718-8658-A851430EFB38}"/>
              </a:ext>
            </a:extLst>
          </p:cNvPr>
          <p:cNvSpPr>
            <a:spLocks noGrp="1"/>
          </p:cNvSpPr>
          <p:nvPr/>
        </p:nvSpPr>
        <p:spPr>
          <a:xfrm>
            <a:off x="495300" y="1952625"/>
            <a:ext cx="6381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6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2,1 × 3,0 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8F7AEDD-03A3-493A-81CD-CD6CD6D3107D}"/>
              </a:ext>
            </a:extLst>
          </p:cNvPr>
          <p:cNvSpPr>
            <a:spLocks noGrp="1"/>
          </p:cNvSpPr>
          <p:nvPr/>
        </p:nvSpPr>
        <p:spPr>
          <a:xfrm>
            <a:off x="495300" y="2952750"/>
            <a:ext cx="6572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Поперечный профиль состава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83D9CB-AF9E-4887-84E1-3718E977FB93}"/>
              </a:ext>
            </a:extLst>
          </p:cNvPr>
          <p:cNvSpPr>
            <a:spLocks noGrp="1"/>
          </p:cNvSpPr>
          <p:nvPr/>
        </p:nvSpPr>
        <p:spPr>
          <a:xfrm>
            <a:off x="495300" y="3762375"/>
            <a:ext cx="6381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1–120 м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1F4DE7B-F1DF-49F7-94AD-88073AD9FDEE}"/>
              </a:ext>
            </a:extLst>
          </p:cNvPr>
          <p:cNvSpPr>
            <a:spLocks noGrp="1"/>
          </p:cNvSpPr>
          <p:nvPr/>
        </p:nvSpPr>
        <p:spPr>
          <a:xfrm>
            <a:off x="495300" y="4762500"/>
            <a:ext cx="657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Горизонт поиска вдоль прямой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44BAFD9-E054-4590-8CE6-77818C261F59}"/>
              </a:ext>
            </a:extLst>
          </p:cNvPr>
          <p:cNvSpPr>
            <a:spLocks noGrp="1"/>
          </p:cNvSpPr>
          <p:nvPr/>
        </p:nvSpPr>
        <p:spPr>
          <a:xfrm>
            <a:off x="7239000" y="2047875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Известно от организатора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68BF1BF-6B62-4516-B1E7-B32454D9CB19}"/>
              </a:ext>
            </a:extLst>
          </p:cNvPr>
          <p:cNvSpPr>
            <a:spLocks noGrp="1"/>
          </p:cNvSpPr>
          <p:nvPr/>
        </p:nvSpPr>
        <p:spPr>
          <a:xfrm>
            <a:off x="7239000" y="2762250"/>
            <a:ext cx="4381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Лидар по центру состава</a:t>
            </a:r>
          </a:p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1,075 м над головкой рельса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BB079A-F528-4EAC-A665-C82DD83B7DF0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4286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Остаётся допущением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45AD481-D15E-4970-A4A4-4A15518A191D}"/>
              </a:ext>
            </a:extLst>
          </p:cNvPr>
          <p:cNvSpPr>
            <a:spLocks noGrp="1"/>
          </p:cNvSpPr>
          <p:nvPr/>
        </p:nvSpPr>
        <p:spPr>
          <a:xfrm>
            <a:off x="7239000" y="4733925"/>
            <a:ext cx="4381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Ориентация и низ профиля</a:t>
            </a:r>
          </a:p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Прямое продолжение пути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25184A-0E9D-4FD6-908C-CF1298499516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120 м — ограничение поиска. Дальность обнаружения зависит от объекта и наблюдений.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99305C-171E-45EB-8F0B-2202B8813FA9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FF07BA6-2858-43A0-939E-AD1C0E90B6D4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принимается решение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550808-DF13-463B-B042-D5A9672E393A}"/>
              </a:ext>
            </a:extLst>
          </p:cNvPr>
          <p:cNvSpPr>
            <a:spLocks noGrp="1"/>
          </p:cNvSpPr>
          <p:nvPr/>
        </p:nvSpPr>
        <p:spPr>
          <a:xfrm>
            <a:off x="495300" y="2019300"/>
            <a:ext cx="80962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C2B297-7015-4DDF-99AC-12371C8FB1F8}"/>
              </a:ext>
            </a:extLst>
          </p:cNvPr>
          <p:cNvSpPr>
            <a:spLocks noGrp="1"/>
          </p:cNvSpPr>
          <p:nvPr/>
        </p:nvSpPr>
        <p:spPr>
          <a:xfrm>
            <a:off x="1571625" y="201930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Подготовка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73E3DB-DB39-4F03-A56B-B51783849B8F}"/>
              </a:ext>
            </a:extLst>
          </p:cNvPr>
          <p:cNvSpPr>
            <a:spLocks noGrp="1"/>
          </p:cNvSpPr>
          <p:nvPr/>
        </p:nvSpPr>
        <p:spPr>
          <a:xfrm>
            <a:off x="4953000" y="2019300"/>
            <a:ext cx="647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Валидные XYZ и один голос на точные повторы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A4754F-0CFB-43E7-836B-636CEE911C67}"/>
              </a:ext>
            </a:extLst>
          </p:cNvPr>
          <p:cNvSpPr>
            <a:spLocks noGrp="1"/>
          </p:cNvSpPr>
          <p:nvPr/>
        </p:nvSpPr>
        <p:spPr>
          <a:xfrm>
            <a:off x="495300" y="2971800"/>
            <a:ext cx="80962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3298D2-099B-4E9A-9D3D-7EB5F429C1BA}"/>
              </a:ext>
            </a:extLst>
          </p:cNvPr>
          <p:cNvSpPr>
            <a:spLocks noGrp="1"/>
          </p:cNvSpPr>
          <p:nvPr/>
        </p:nvSpPr>
        <p:spPr>
          <a:xfrm>
            <a:off x="1571625" y="297180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Геометрия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9777B03-3BA1-4078-85E0-E995B458D2CA}"/>
              </a:ext>
            </a:extLst>
          </p:cNvPr>
          <p:cNvSpPr>
            <a:spLocks noGrp="1"/>
          </p:cNvSpPr>
          <p:nvPr/>
        </p:nvSpPr>
        <p:spPr>
          <a:xfrm>
            <a:off x="4953000" y="2971800"/>
            <a:ext cx="647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Основание и принадлежность заданному профилю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82AB990-779E-4283-A0D0-4812A0EC7A5A}"/>
              </a:ext>
            </a:extLst>
          </p:cNvPr>
          <p:cNvSpPr>
            <a:spLocks noGrp="1"/>
          </p:cNvSpPr>
          <p:nvPr/>
        </p:nvSpPr>
        <p:spPr>
          <a:xfrm>
            <a:off x="495300" y="3924300"/>
            <a:ext cx="80962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AB4A78-A719-42C5-944D-5F2573F06D93}"/>
              </a:ext>
            </a:extLst>
          </p:cNvPr>
          <p:cNvSpPr>
            <a:spLocks noGrp="1"/>
          </p:cNvSpPr>
          <p:nvPr/>
        </p:nvSpPr>
        <p:spPr>
          <a:xfrm>
            <a:off x="1571625" y="392430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Кандидаты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58E19C-4575-4D4D-AE0A-B7BAFE6272F5}"/>
              </a:ext>
            </a:extLst>
          </p:cNvPr>
          <p:cNvSpPr>
            <a:spLocks noGrp="1"/>
          </p:cNvSpPr>
          <p:nvPr/>
        </p:nvSpPr>
        <p:spPr>
          <a:xfrm>
            <a:off x="4953000" y="3924300"/>
            <a:ext cx="647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Связность точек и признаки наблюдаемой поверхности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EB068B-E708-45E8-A8B2-817B9FB053A1}"/>
              </a:ext>
            </a:extLst>
          </p:cNvPr>
          <p:cNvSpPr>
            <a:spLocks noGrp="1"/>
          </p:cNvSpPr>
          <p:nvPr/>
        </p:nvSpPr>
        <p:spPr>
          <a:xfrm>
            <a:off x="495300" y="4876800"/>
            <a:ext cx="80962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86C52-B8A8-4CB6-AD7E-D08D5A0B9A34}"/>
              </a:ext>
            </a:extLst>
          </p:cNvPr>
          <p:cNvSpPr>
            <a:spLocks noGrp="1"/>
          </p:cNvSpPr>
          <p:nvPr/>
        </p:nvSpPr>
        <p:spPr>
          <a:xfrm>
            <a:off x="1571625" y="4876800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Результат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44D76AD-8966-4E0C-A07A-A3DFAACA2C7C}"/>
              </a:ext>
            </a:extLst>
          </p:cNvPr>
          <p:cNvSpPr>
            <a:spLocks noGrp="1"/>
          </p:cNvSpPr>
          <p:nvPr/>
        </p:nvSpPr>
        <p:spPr>
          <a:xfrm>
            <a:off x="4953000" y="4876800"/>
            <a:ext cx="647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Правило вторжения и минимум дальности по его точкам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63B724-90AF-4E4D-A930-E66DCA02F87B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Одиночный возврат остаётся слабым наблюдением. Отсутствие кандидата не подтверждает свободный путь.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D1EAD9-9674-468B-B3F7-32EE084D338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50202E-EC5E-4A66-AAD3-9046457A7A89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Обнаружение на реальных точках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DCAEC73-8C51-4351-9173-80A56600A2AB}"/>
              </a:ext>
            </a:extLst>
          </p:cNvPr>
          <p:cNvSpPr>
            <a:spLocks noGrp="1"/>
          </p:cNvSpPr>
          <p:nvPr/>
        </p:nvSpPr>
        <p:spPr>
          <a:xfrm>
            <a:off x="495300" y="1905000"/>
            <a:ext cx="4381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98,7 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F50525-7F2A-46D2-80B7-6A7DEBE93D33}"/>
              </a:ext>
            </a:extLst>
          </p:cNvPr>
          <p:cNvSpPr>
            <a:spLocks noGrp="1"/>
          </p:cNvSpPr>
          <p:nvPr/>
        </p:nvSpPr>
        <p:spPr>
          <a:xfrm>
            <a:off x="495300" y="3048000"/>
            <a:ext cx="38576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Грань E01</a:t>
            </a:r>
          </a:p>
          <a:p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 синтетическом bag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706CED-8C84-4538-BEA8-F8292F183DF5}"/>
              </a:ext>
            </a:extLst>
          </p:cNvPr>
          <p:cNvSpPr>
            <a:spLocks noGrp="1"/>
          </p:cNvSpPr>
          <p:nvPr/>
        </p:nvSpPr>
        <p:spPr>
          <a:xfrm>
            <a:off x="495300" y="4667250"/>
            <a:ext cx="41910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Отдельный короткий прогон</a:t>
            </a:r>
          </a:p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Дальность по видимой поверхности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10125" y="1992809"/>
            <a:ext cx="6715125" cy="377725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1CC9F-A831-4EC7-A086-23F79CB819E1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На скриншоте 90,119 м. Значение 98,693 м зафиксировано в другом кадре короткого прогона.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31B544A-52E5-4FCF-ADF5-867E9E44B71F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6D4A8FE-D884-4226-A373-27B3A4CC612E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Живой просмотр ROS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9271" y="1809750"/>
            <a:ext cx="7789333" cy="43815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CF5BA3-CC05-4C7E-9971-0B908C54A123}"/>
              </a:ext>
            </a:extLst>
          </p:cNvPr>
          <p:cNvSpPr>
            <a:spLocks noGrp="1"/>
          </p:cNvSpPr>
          <p:nvPr/>
        </p:nvSpPr>
        <p:spPr>
          <a:xfrm>
            <a:off x="9429750" y="2286000"/>
            <a:ext cx="238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25,782 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BCE4E77-1517-4C31-A173-E366E3FB3F33}"/>
              </a:ext>
            </a:extLst>
          </p:cNvPr>
          <p:cNvSpPr>
            <a:spLocks noGrp="1"/>
          </p:cNvSpPr>
          <p:nvPr/>
        </p:nvSpPr>
        <p:spPr>
          <a:xfrm>
            <a:off x="9429750" y="3190875"/>
            <a:ext cx="2381250" cy="2714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Кадр на экране 203</a:t>
            </a:r>
          </a:p>
          <a:p>
            <a:endParaRPr sz="1725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Красные точки —</a:t>
            </a:r>
          </a:p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выделение алгоритма</a:t>
            </a:r>
          </a:p>
          <a:p>
            <a:endParaRPr sz="1725" b="0">
              <a:solidFill>
                <a:srgbClr val="1C1D22"/>
              </a:solidFill>
              <a:latin typeface="Montserrat"/>
              <a:ea typeface="Montserrat"/>
              <a:cs typeface="Montserrat"/>
            </a:endParaRPr>
          </a:p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Картинка и расчёт</a:t>
            </a:r>
          </a:p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обновляются отдельно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B2E6BA-5E9F-44C0-9CE6-92FB17CDBA0F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Снимок отдельного просмотра от 29 сентября. Видеозапись должна показывать непрерывное движение.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E99CC0-5515-41CC-B29A-AB500FE8E074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7E2637-B541-4341-8E66-FF2760337B82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Производительность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F73518E-5631-41F8-9F2A-62C4AB1A8E74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5048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9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115 мс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169285-4E0B-4E0B-B1AC-BB0B138EEC49}"/>
              </a:ext>
            </a:extLst>
          </p:cNvPr>
          <p:cNvSpPr>
            <a:spLocks noGrp="1"/>
          </p:cNvSpPr>
          <p:nvPr/>
        </p:nvSpPr>
        <p:spPr>
          <a:xfrm>
            <a:off x="495300" y="3190875"/>
            <a:ext cx="519112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Медиана задержки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 компактного результата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7319BC-0ADB-4BCA-9E6D-24BE25D16FA3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9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49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177 мс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3D4150-13B5-449D-B0C5-37A860411A32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5095875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95-й перцентиль</a:t>
            </a:r>
          </a:p>
          <a:p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той же задержки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B16562-7E41-499D-B32B-5241AE795156}"/>
              </a:ext>
            </a:extLst>
          </p:cNvPr>
          <p:cNvSpPr>
            <a:spLocks noGrp="1"/>
          </p:cNvSpPr>
          <p:nvPr/>
        </p:nvSpPr>
        <p:spPr>
          <a:xfrm>
            <a:off x="495300" y="47625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3,12 результата/с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6F42A3-F818-4889-ACDB-A93DB38D6448}"/>
              </a:ext>
            </a:extLst>
          </p:cNvPr>
          <p:cNvSpPr>
            <a:spLocks noGrp="1"/>
          </p:cNvSpPr>
          <p:nvPr/>
        </p:nvSpPr>
        <p:spPr>
          <a:xfrm>
            <a:off x="495300" y="55626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1509 результатов за 483 с полного запуска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97741A4-0AF9-4F2B-B349-5A24467C64EA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CPU, 2 процесса, configured_straight. Полный прогон без зрителя. Работа на 10 Гц не доказана.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B7F321-762B-4773-98AF-8C158230C45A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E3CE67-9CF4-4A4E-9D19-047B507A3B77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Проверки и воспроизводимость</a:t>
            </a:r>
          </a:p>
        </p:txBody>
      </p:sp>
      <p:graphicFrame>
        <p:nvGraphicFramePr>
          <p:cNvPr id="6" name="Таблица 5"/>
          <p:cNvGraphicFramePr/>
          <p:nvPr/>
        </p:nvGraphicFramePr>
        <p:xfrm>
          <a:off x="495300" y="2000250"/>
          <a:ext cx="11049000" cy="371475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Проверка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Полный вход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1510 сообщений дошло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Журнал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1509 уникальных результатов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Пропуски / ошибки /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/ 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Второй топик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13 из 13 в коротком прогоне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RViz и другой компьютер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Пока не проверены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136D2D-6385-49DD-8F03-B79D0B9E9238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1509/1510 — полнота обработки сообщений. Это не полнота обнаружения препятствий.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A2C4476-6D0D-4097-854C-4A0C4CD7644C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AB6D5B-47C1-47FB-B6C9-E9050131DE1D}"/>
              </a:ext>
            </a:extLst>
          </p:cNvPr>
          <p:cNvSpPr>
            <a:spLocks noGrp="1"/>
          </p:cNvSpPr>
          <p:nvPr/>
        </p:nvSpPr>
        <p:spPr>
          <a:xfrm>
            <a:off x="457200" y="1047750"/>
            <a:ext cx="1104900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Ограничения и готовый результат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CC5FCA-6BF1-4338-906B-9FB92EBFC932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5810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Рабочий прототип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457EC6-CEF6-405A-85C7-EEA2E4AA284B}"/>
              </a:ext>
            </a:extLst>
          </p:cNvPr>
          <p:cNvSpPr>
            <a:spLocks noGrp="1"/>
          </p:cNvSpPr>
          <p:nvPr/>
        </p:nvSpPr>
        <p:spPr>
          <a:xfrm>
            <a:off x="495300" y="2857500"/>
            <a:ext cx="6000750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ROS-вход и компактный ответ</a:t>
            </a:r>
          </a:p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Docker и скрипты запуска</a:t>
            </a:r>
          </a:p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Веб-просмотр и проверяемый журнал</a:t>
            </a:r>
          </a:p>
          <a:p>
            <a:pPr>
              <a:def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Дальняя поверхность на 98,7 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B88F32-4E03-44DE-95B1-06EF07C5D7BD}"/>
              </a:ext>
            </a:extLst>
          </p:cNvPr>
          <p:cNvSpPr>
            <a:spLocks noGrp="1"/>
          </p:cNvSpPr>
          <p:nvPr/>
        </p:nvSpPr>
        <p:spPr>
          <a:xfrm>
            <a:off x="7239000" y="2000250"/>
            <a:ext cx="4381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Открытые вопросы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B49FA4-A09A-4065-B103-CCDED6AC9522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4429125" cy="2333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Свой путь на кривых</a:t>
            </a:r>
          </a:p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Малые объекты и провода</a:t>
            </a:r>
          </a:p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Разметка ложных тревог</a:t>
            </a:r>
          </a:p>
          <a:p>
            <a:pPr>
              <a:def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Независимая сборка и перенос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BACC21-56EC-4D94-A6FC-816D7F4A3A11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4606B"/>
                </a:solidFill>
                <a:latin typeface="Montserrat"/>
                <a:ea typeface="Montserrat"/>
                <a:cs typeface="Montserrat"/>
              </a:rPr>
              <a:t>Решение поддерживает анализ и демонстрацию. Подтверждённую безопасность движения не заявляем.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C01387-4185-4E41-AEA6-4F16E7601A3A}"/>
              </a:ext>
            </a:extLst>
          </p:cNvPr>
          <p:cNvSpPr>
            <a:spLocks noGrp="1"/>
          </p:cNvSpPr>
          <p:nvPr/>
        </p:nvSpPr>
        <p:spPr>
          <a:xfrm>
            <a:off x="11525250" y="64865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1226</Words>
  <Application>Microsoft Office PowerPoint</Application>
  <DocSecurity>0</DocSecurity>
  <PresentationFormat>Широкоэкранный</PresentationFormat>
  <Paragraphs>180</Paragraphs>
  <Slides>15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Amatic SC</vt:lpstr>
      <vt:lpstr>Arial</vt:lpstr>
      <vt:lpstr>Calibri</vt:lpstr>
      <vt:lpstr>Montserrat</vt:lpstr>
      <vt:lpstr>Roboto</vt:lpstr>
      <vt:lpstr>Wingdings</vt:lpstr>
      <vt:lpstr>Для Академия инноваторов 16_9</vt:lpstr>
      <vt:lpstr>1_Для Академия инноваторов 16_9</vt:lpstr>
      <vt:lpstr>Презентация PowerPoint</vt:lpstr>
      <vt:lpstr>Команда  «Лидарный Дозор»</vt:lpstr>
      <vt:lpstr>Команда «Лидарный Дозор»</vt:lpstr>
      <vt:lpstr>Команда «Лидарный Дозор»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8</cp:revision>
  <dcterms:created xsi:type="dcterms:W3CDTF">2026-09-29T04:39:53Z</dcterms:created>
  <dcterms:modified xsi:type="dcterms:W3CDTF">2026-09-29T16:04:30Z</dcterms:modified>
</cp:coreProperties>
</file>